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92" r:id="rId15"/>
    <p:sldId id="294" r:id="rId16"/>
    <p:sldId id="296" r:id="rId17"/>
    <p:sldId id="293" r:id="rId18"/>
    <p:sldId id="295" r:id="rId19"/>
    <p:sldId id="297"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84324-079C-4375-9AEA-8E7DAE6B7736}" v="33" dt="2026-07-11T17:46:38.528"/>
    <p1510:client id="{CC5D0A18-6DBB-4303-A3E1-38C6966F9391}" v="1" dt="2026-07-11T18:55:27.01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j Shinde" userId="0e4ccb22a6086505" providerId="LiveId" clId="{463509B2-FC18-4BAF-AF63-282F25D203D5}"/>
    <pc:docChg chg="undo redo custSel addSld modSld">
      <pc:chgData name="Anuj Shinde" userId="0e4ccb22a6086505" providerId="LiveId" clId="{463509B2-FC18-4BAF-AF63-282F25D203D5}" dt="2026-07-11T19:23:58.461" v="204" actId="12788"/>
      <pc:docMkLst>
        <pc:docMk/>
      </pc:docMkLst>
      <pc:sldChg chg="modSp mod">
        <pc:chgData name="Anuj Shinde" userId="0e4ccb22a6086505" providerId="LiveId" clId="{463509B2-FC18-4BAF-AF63-282F25D203D5}" dt="2026-07-11T19:05:40.611" v="187" actId="20577"/>
        <pc:sldMkLst>
          <pc:docMk/>
          <pc:sldMk cId="0" sldId="257"/>
        </pc:sldMkLst>
        <pc:spChg chg="mod">
          <ac:chgData name="Anuj Shinde" userId="0e4ccb22a6086505" providerId="LiveId" clId="{463509B2-FC18-4BAF-AF63-282F25D203D5}" dt="2026-07-11T19:05:40.611" v="187" actId="20577"/>
          <ac:spMkLst>
            <pc:docMk/>
            <pc:sldMk cId="0" sldId="257"/>
            <ac:spMk id="4" creationId="{A828B9EF-C084-F5D4-CA27-75AF7D995640}"/>
          </ac:spMkLst>
        </pc:spChg>
        <pc:spChg chg="mod">
          <ac:chgData name="Anuj Shinde" userId="0e4ccb22a6086505" providerId="LiveId" clId="{463509B2-FC18-4BAF-AF63-282F25D203D5}" dt="2026-07-11T19:05:36.483" v="186" actId="20577"/>
          <ac:spMkLst>
            <pc:docMk/>
            <pc:sldMk cId="0" sldId="257"/>
            <ac:spMk id="7" creationId="{3D723CA3-EC2D-165A-F109-3759C4E9C8A4}"/>
          </ac:spMkLst>
        </pc:spChg>
      </pc:sldChg>
      <pc:sldChg chg="modSp mod">
        <pc:chgData name="Anuj Shinde" userId="0e4ccb22a6086505" providerId="LiveId" clId="{463509B2-FC18-4BAF-AF63-282F25D203D5}" dt="2026-07-11T19:03:45.461" v="163" actId="732"/>
        <pc:sldMkLst>
          <pc:docMk/>
          <pc:sldMk cId="0" sldId="276"/>
        </pc:sldMkLst>
        <pc:picChg chg="mod modCrop">
          <ac:chgData name="Anuj Shinde" userId="0e4ccb22a6086505" providerId="LiveId" clId="{463509B2-FC18-4BAF-AF63-282F25D203D5}" dt="2026-07-11T19:03:45.461" v="163" actId="732"/>
          <ac:picMkLst>
            <pc:docMk/>
            <pc:sldMk cId="0" sldId="276"/>
            <ac:picMk id="310" creationId="{00000000-0000-0000-0000-000000000000}"/>
          </ac:picMkLst>
        </pc:picChg>
      </pc:sldChg>
      <pc:sldChg chg="modSp mod">
        <pc:chgData name="Anuj Shinde" userId="0e4ccb22a6086505" providerId="LiveId" clId="{463509B2-FC18-4BAF-AF63-282F25D203D5}" dt="2026-07-11T18:57:14.459" v="150" actId="20577"/>
        <pc:sldMkLst>
          <pc:docMk/>
          <pc:sldMk cId="2952584201" sldId="282"/>
        </pc:sldMkLst>
        <pc:spChg chg="mod">
          <ac:chgData name="Anuj Shinde" userId="0e4ccb22a6086505" providerId="LiveId" clId="{463509B2-FC18-4BAF-AF63-282F25D203D5}" dt="2026-07-11T18:57:14.459" v="150" actId="20577"/>
          <ac:spMkLst>
            <pc:docMk/>
            <pc:sldMk cId="2952584201" sldId="282"/>
            <ac:spMk id="2" creationId="{C6F6745E-14BA-0766-CE1E-32E29663832D}"/>
          </ac:spMkLst>
        </pc:spChg>
      </pc:sldChg>
      <pc:sldChg chg="modSp mod">
        <pc:chgData name="Anuj Shinde" userId="0e4ccb22a6086505" providerId="LiveId" clId="{463509B2-FC18-4BAF-AF63-282F25D203D5}" dt="2026-07-11T18:59:24.632" v="158" actId="20577"/>
        <pc:sldMkLst>
          <pc:docMk/>
          <pc:sldMk cId="2290294991" sldId="285"/>
        </pc:sldMkLst>
        <pc:spChg chg="mod">
          <ac:chgData name="Anuj Shinde" userId="0e4ccb22a6086505" providerId="LiveId" clId="{463509B2-FC18-4BAF-AF63-282F25D203D5}" dt="2026-07-11T18:59:24.632" v="158" actId="20577"/>
          <ac:spMkLst>
            <pc:docMk/>
            <pc:sldMk cId="2290294991" sldId="285"/>
            <ac:spMk id="2" creationId="{4A1BF701-ABCA-4DF0-8330-B6AF71EF8E39}"/>
          </ac:spMkLst>
        </pc:spChg>
      </pc:sldChg>
      <pc:sldChg chg="addSp delSp modSp add mod">
        <pc:chgData name="Anuj Shinde" userId="0e4ccb22a6086505" providerId="LiveId" clId="{463509B2-FC18-4BAF-AF63-282F25D203D5}" dt="2026-07-11T19:23:58.461" v="204" actId="12788"/>
        <pc:sldMkLst>
          <pc:docMk/>
          <pc:sldMk cId="1519035662" sldId="297"/>
        </pc:sldMkLst>
        <pc:picChg chg="del">
          <ac:chgData name="Anuj Shinde" userId="0e4ccb22a6086505" providerId="LiveId" clId="{463509B2-FC18-4BAF-AF63-282F25D203D5}" dt="2026-07-11T19:21:52.169" v="189" actId="478"/>
          <ac:picMkLst>
            <pc:docMk/>
            <pc:sldMk cId="1519035662" sldId="297"/>
            <ac:picMk id="4" creationId="{23B6D2A0-F465-7E28-82C9-C55C601600F3}"/>
          </ac:picMkLst>
        </pc:picChg>
        <pc:picChg chg="add mod modCrop">
          <ac:chgData name="Anuj Shinde" userId="0e4ccb22a6086505" providerId="LiveId" clId="{463509B2-FC18-4BAF-AF63-282F25D203D5}" dt="2026-07-11T19:23:58.461" v="204" actId="12788"/>
          <ac:picMkLst>
            <pc:docMk/>
            <pc:sldMk cId="1519035662" sldId="297"/>
            <ac:picMk id="5" creationId="{0B8FCED3-CCA2-CE27-89F7-DB0366592B6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nuj-76/Network-Intrusion-Detection-System.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8200" y="1709738"/>
            <a:ext cx="10515600" cy="2852737"/>
          </a:xfrm>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838200" y="3903663"/>
            <a:ext cx="10515600" cy="1500187"/>
          </a:xfrm>
        </p:spPr>
        <p:txBody>
          <a:bodyPr/>
          <a:lstStyle/>
          <a:p>
            <a:pPr algn="ctr"/>
            <a:r>
              <a:rPr lang="en-US" b="1" i="1" dirty="0"/>
              <a:t>“Exploring the Power of Machine Learning with IBM Cloud”</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91965830"/>
              </p:ext>
            </p:extLst>
          </p:nvPr>
        </p:nvGraphicFramePr>
        <p:xfrm>
          <a:off x="216060" y="2600314"/>
          <a:ext cx="11759880" cy="3083047"/>
        </p:xfrm>
        <a:graphic>
          <a:graphicData uri="http://schemas.openxmlformats.org/drawingml/2006/table">
            <a:tbl>
              <a:tblPr>
                <a:noFill/>
                <a:tableStyleId>{0AAD8F4D-43EB-41E5-8A38-28AB6DFB1B60}</a:tableStyleId>
              </a:tblPr>
              <a:tblGrid>
                <a:gridCol w="2584632">
                  <a:extLst>
                    <a:ext uri="{9D8B030D-6E8A-4147-A177-3AD203B41FA5}">
                      <a16:colId xmlns:a16="http://schemas.microsoft.com/office/drawing/2014/main" val="20000"/>
                    </a:ext>
                  </a:extLst>
                </a:gridCol>
                <a:gridCol w="3058416">
                  <a:extLst>
                    <a:ext uri="{9D8B030D-6E8A-4147-A177-3AD203B41FA5}">
                      <a16:colId xmlns:a16="http://schemas.microsoft.com/office/drawing/2014/main" val="20002"/>
                    </a:ext>
                  </a:extLst>
                </a:gridCol>
                <a:gridCol w="3058416">
                  <a:extLst>
                    <a:ext uri="{9D8B030D-6E8A-4147-A177-3AD203B41FA5}">
                      <a16:colId xmlns:a16="http://schemas.microsoft.com/office/drawing/2014/main" val="20003"/>
                    </a:ext>
                  </a:extLst>
                </a:gridCol>
                <a:gridCol w="3058416">
                  <a:extLst>
                    <a:ext uri="{9D8B030D-6E8A-4147-A177-3AD203B41FA5}">
                      <a16:colId xmlns:a16="http://schemas.microsoft.com/office/drawing/2014/main" val="20004"/>
                    </a:ext>
                  </a:extLst>
                </a:gridCol>
              </a:tblGrid>
              <a:tr h="1384568">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98479">
                <a:tc>
                  <a:txBody>
                    <a:bodyPr/>
                    <a:lstStyle/>
                    <a:p>
                      <a:pPr marL="0" marR="0" lvl="0" indent="0" algn="l" rtl="0">
                        <a:spcBef>
                          <a:spcPts val="0"/>
                        </a:spcBef>
                        <a:spcAft>
                          <a:spcPts val="0"/>
                        </a:spcAft>
                        <a:buNone/>
                      </a:pPr>
                      <a:r>
                        <a:rPr lang="en-US" sz="2000" dirty="0"/>
                        <a:t>Anuj Navin Shinde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anujshinde706@gmail.com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+91 7208750324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694207" y="4141837"/>
            <a:ext cx="1271332" cy="1402437"/>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Network Security</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Title – Network Intrusion Detection System</a:t>
            </a:r>
            <a:endParaRPr lang="en-IN" sz="28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6001643"/>
          </a:xfrm>
          <a:prstGeom prst="rect">
            <a:avLst/>
          </a:prstGeom>
          <a:noFill/>
        </p:spPr>
        <p:txBody>
          <a:bodyPr wrap="square" lIns="91440" tIns="45720" rIns="91440" bIns="45720" rtlCol="0" anchor="t">
            <a:spAutoFit/>
          </a:bodyPr>
          <a:lstStyle/>
          <a:p>
            <a:pPr fontAlgn="base"/>
            <a:endParaRPr lang="en-US" sz="2000" b="1" dirty="0"/>
          </a:p>
          <a:p>
            <a:pPr fontAlgn="base"/>
            <a:r>
              <a:rPr lang="en-US" sz="2000" b="1" dirty="0"/>
              <a:t>Network Intrusion Detection System using Machine Learning</a:t>
            </a:r>
          </a:p>
          <a:p>
            <a:endParaRPr lang="en-US" sz="2000" dirty="0"/>
          </a:p>
          <a:p>
            <a:r>
              <a:rPr lang="en-US" sz="2000" dirty="0"/>
              <a:t>Modern communication networks generate massive volumes of data every second, making them increasingly vulnerable to cyber threats such as unauthorized access, denial-of-service attacks, malicious activities, and abnormal network behavior. As network traffic continues to grow in complexity, identifying potential intrusions using traditional monitoring techniques becomes difficult, time-consuming, and prone to human error.</a:t>
            </a:r>
          </a:p>
          <a:p>
            <a:endParaRPr lang="en-US" sz="2000" dirty="0"/>
          </a:p>
          <a:p>
            <a:r>
              <a:rPr lang="en-US" sz="2000" dirty="0"/>
              <a:t>The inability to detect malicious activities at an early stage can lead to data breaches, service disruption, financial losses, and compromised system integrity. Therefore, there is a growing need for an intelligent intrusion detection mechanism capable of continuously analyzing network traffic and accurately distinguishing legitimate communication from suspicious or anomalous behavior.</a:t>
            </a:r>
          </a:p>
          <a:p>
            <a:r>
              <a:rPr lang="en-US" sz="2000" dirty="0"/>
              <a:t>An effective Network Intrusion Detection System (NIDS) should provide reliable, timely, and accurate detection of potential threats, enabling organizations to strengthen network security, improve incident response, and maintain the confidentiality, integrity, and availability of communication networks.</a:t>
            </a:r>
          </a:p>
          <a:p>
            <a:pPr fontAlgn="base">
              <a:lnSpc>
                <a:spcPct val="150000"/>
              </a:lnSpc>
            </a:pPr>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401529"/>
            <a:ext cx="7214616" cy="523220"/>
          </a:xfrm>
          <a:prstGeom prst="rect">
            <a:avLst/>
          </a:prstGeom>
          <a:noFill/>
        </p:spPr>
        <p:txBody>
          <a:bodyPr wrap="square" rtlCol="0">
            <a:spAutoFit/>
          </a:bodyPr>
          <a:lstStyle/>
          <a:p>
            <a:r>
              <a:rPr lang="en-US" sz="2800" b="1" dirty="0"/>
              <a:t>Problem Statement </a:t>
            </a:r>
            <a:r>
              <a:rPr lang="en-US" sz="2400" b="1" dirty="0"/>
              <a:t>-</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6036974"/>
          </a:xfrm>
          <a:prstGeom prst="rect">
            <a:avLst/>
          </a:prstGeom>
          <a:noFill/>
        </p:spPr>
        <p:txBody>
          <a:bodyPr wrap="square" lIns="91440" tIns="45720" rIns="91440" bIns="45720" rtlCol="0" anchor="t">
            <a:spAutoFit/>
          </a:bodyPr>
          <a:lstStyle/>
          <a:p>
            <a:endParaRPr lang="en-US" sz="2000" b="1" dirty="0"/>
          </a:p>
          <a:p>
            <a:r>
              <a:rPr lang="en-US" sz="2000" dirty="0"/>
              <a:t>The proposed solution leverages </a:t>
            </a:r>
            <a:r>
              <a:rPr lang="en-US" sz="2000" b="1" dirty="0"/>
              <a:t>IBM watsonx.ai </a:t>
            </a:r>
            <a:r>
              <a:rPr lang="en-US" sz="2000" b="1" dirty="0" err="1"/>
              <a:t>AutoAI</a:t>
            </a:r>
            <a:r>
              <a:rPr lang="en-US" sz="2000" dirty="0"/>
              <a:t> on </a:t>
            </a:r>
            <a:r>
              <a:rPr lang="en-US" sz="2000" b="1" dirty="0"/>
              <a:t>IBM Cloud</a:t>
            </a:r>
            <a:r>
              <a:rPr lang="en-US" sz="2000" dirty="0"/>
              <a:t> to develop an intelligent </a:t>
            </a:r>
            <a:r>
              <a:rPr lang="en-US" sz="2000" b="1" dirty="0"/>
              <a:t>Network Intrusion Detection System (NIDS)</a:t>
            </a:r>
            <a:r>
              <a:rPr lang="en-US" sz="2000" dirty="0"/>
              <a:t> capable of automatically analyzing network traffic and identifying suspicious activities.</a:t>
            </a:r>
          </a:p>
          <a:p>
            <a:endParaRPr lang="en-US" sz="2000" dirty="0"/>
          </a:p>
          <a:p>
            <a:r>
              <a:rPr lang="en-US" sz="2000" dirty="0"/>
              <a:t>The network intrusion dataset is imported into IBM watsonx.ai </a:t>
            </a:r>
            <a:r>
              <a:rPr lang="en-US" sz="2000" dirty="0" err="1"/>
              <a:t>AutoAI</a:t>
            </a:r>
            <a:r>
              <a:rPr lang="en-US" sz="2000" dirty="0"/>
              <a:t>, where the target column is configured for prediction. </a:t>
            </a:r>
            <a:r>
              <a:rPr lang="en-US" sz="2000" dirty="0" err="1"/>
              <a:t>AutoAI</a:t>
            </a:r>
            <a:r>
              <a:rPr lang="en-US" sz="2000" dirty="0"/>
              <a:t> automatically performs </a:t>
            </a:r>
            <a:r>
              <a:rPr lang="en-US" sz="2000" b="1" dirty="0"/>
              <a:t>data preprocessing</a:t>
            </a:r>
            <a:r>
              <a:rPr lang="en-US" sz="2000" dirty="0"/>
              <a:t>, </a:t>
            </a:r>
            <a:r>
              <a:rPr lang="en-US" sz="2000" b="1" dirty="0"/>
              <a:t>feature engineering</a:t>
            </a:r>
            <a:r>
              <a:rPr lang="en-US" sz="2000" dirty="0"/>
              <a:t>, </a:t>
            </a:r>
            <a:r>
              <a:rPr lang="en-US" sz="2000" b="1" dirty="0"/>
              <a:t>algorithm selection</a:t>
            </a:r>
            <a:r>
              <a:rPr lang="en-US" sz="2000" dirty="0"/>
              <a:t>, and </a:t>
            </a:r>
            <a:r>
              <a:rPr lang="en-US" sz="2000" b="1" dirty="0"/>
              <a:t>hyperparameter optimization</a:t>
            </a:r>
            <a:r>
              <a:rPr lang="en-US" sz="2000" dirty="0"/>
              <a:t>, eliminating the need for extensive manual model development.</a:t>
            </a:r>
          </a:p>
          <a:p>
            <a:endParaRPr lang="en-US" sz="2000" dirty="0"/>
          </a:p>
          <a:p>
            <a:r>
              <a:rPr lang="en-US" sz="2000" dirty="0"/>
              <a:t>Multiple Machine Learning pipelines are generated and evaluated based on their predictive performance. The highest-performing pipeline is selected and deployed using </a:t>
            </a:r>
            <a:r>
              <a:rPr lang="en-US" sz="2000" b="1" dirty="0"/>
              <a:t>IBM Watson Machine Learning</a:t>
            </a:r>
            <a:r>
              <a:rPr lang="en-US" sz="2000" dirty="0"/>
              <a:t> on </a:t>
            </a:r>
            <a:r>
              <a:rPr lang="en-US" sz="2000" b="1" dirty="0"/>
              <a:t>IBM Cloud</a:t>
            </a:r>
            <a:r>
              <a:rPr lang="en-US" sz="2000" dirty="0"/>
              <a:t>.</a:t>
            </a:r>
          </a:p>
          <a:p>
            <a:endParaRPr lang="en-US" sz="2000" dirty="0"/>
          </a:p>
          <a:p>
            <a:r>
              <a:rPr lang="en-US" sz="2000" dirty="0"/>
              <a:t>The deployed model is then tested using sample network traffic records to verify its prediction capability. Based on the learned traffic patterns, the system classifies each network connection as either </a:t>
            </a:r>
            <a:r>
              <a:rPr lang="en-US" sz="2000" b="1" dirty="0"/>
              <a:t>Normal</a:t>
            </a:r>
            <a:r>
              <a:rPr lang="en-US" sz="2000" dirty="0"/>
              <a:t> or </a:t>
            </a:r>
            <a:r>
              <a:rPr lang="en-US" sz="2000" b="1" dirty="0"/>
              <a:t>Anomaly</a:t>
            </a:r>
            <a:r>
              <a:rPr lang="en-US" sz="2000" dirty="0"/>
              <a:t>, enabling automated intrusion detection and supporting timely identification of potential security threats.</a:t>
            </a:r>
          </a:p>
          <a:p>
            <a:pPr fontAlgn="base">
              <a:lnSpc>
                <a:spcPct val="150000"/>
              </a:lnSpc>
            </a:pPr>
            <a:r>
              <a:rPr lang="en-US" sz="2000" dirty="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523220"/>
          </a:xfrm>
          <a:prstGeom prst="rect">
            <a:avLst/>
          </a:prstGeom>
          <a:noFill/>
        </p:spPr>
        <p:txBody>
          <a:bodyPr wrap="square" rtlCol="0">
            <a:spAutoFit/>
          </a:bodyPr>
          <a:lstStyle/>
          <a:p>
            <a:r>
              <a:rPr lang="en-US" sz="2800" b="1" dirty="0"/>
              <a:t>Proposed Solution </a:t>
            </a:r>
            <a:r>
              <a:rPr lang="en-US" sz="2400" b="1" dirty="0"/>
              <a:t>-</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67313"/>
          </a:xfrm>
          <a:prstGeom prst="rect">
            <a:avLst/>
          </a:prstGeom>
          <a:noFill/>
        </p:spPr>
        <p:txBody>
          <a:bodyPr wrap="square" lIns="91440" tIns="45720" rIns="91440" bIns="45720" rtlCol="0" anchor="t">
            <a:spAutoFit/>
          </a:bodyPr>
          <a:lstStyle/>
          <a:p>
            <a:endParaRPr lang="en-US" sz="1800" dirty="0"/>
          </a:p>
          <a:p>
            <a:pPr marL="342900" indent="-342900">
              <a:lnSpc>
                <a:spcPct val="150000"/>
              </a:lnSpc>
              <a:buFont typeface="Arial" panose="020B0604020202020204" pitchFamily="34" charset="0"/>
              <a:buChar char="•"/>
            </a:pPr>
            <a:r>
              <a:rPr lang="en-US" sz="2000" b="1" dirty="0"/>
              <a:t>IBM Cloud: </a:t>
            </a:r>
            <a:r>
              <a:rPr lang="en-US" sz="2000" dirty="0"/>
              <a:t>Provides a secure and scalable platform for developing, deploying, and managing the Network Intrusion Detection System.</a:t>
            </a:r>
          </a:p>
          <a:p>
            <a:pPr marL="342900" indent="-342900">
              <a:lnSpc>
                <a:spcPct val="150000"/>
              </a:lnSpc>
              <a:buFont typeface="Arial" panose="020B0604020202020204" pitchFamily="34" charset="0"/>
              <a:buChar char="•"/>
            </a:pPr>
            <a:r>
              <a:rPr lang="en-US" sz="2000" b="1" dirty="0"/>
              <a:t>IBM watsonx.ai </a:t>
            </a:r>
            <a:r>
              <a:rPr lang="en-US" sz="2000" b="1" dirty="0" err="1"/>
              <a:t>AutoAI</a:t>
            </a:r>
            <a:r>
              <a:rPr lang="en-US" sz="2000" b="1" dirty="0"/>
              <a:t>: </a:t>
            </a:r>
            <a:r>
              <a:rPr lang="en-US" sz="2000" dirty="0"/>
              <a:t>Automates data preprocessing, feature engineering, model selection, and hyperparameter optimization.</a:t>
            </a:r>
          </a:p>
          <a:p>
            <a:pPr marL="342900" indent="-342900">
              <a:lnSpc>
                <a:spcPct val="150000"/>
              </a:lnSpc>
              <a:buFont typeface="Arial" panose="020B0604020202020204" pitchFamily="34" charset="0"/>
              <a:buChar char="•"/>
            </a:pPr>
            <a:r>
              <a:rPr lang="en-US" sz="2000" b="1" dirty="0"/>
              <a:t>IBM Watson Machine Learning: </a:t>
            </a:r>
            <a:r>
              <a:rPr lang="en-US" sz="2000" dirty="0"/>
              <a:t>Deploys the trained model and enables prediction testing on IBM Cloud.</a:t>
            </a:r>
          </a:p>
          <a:p>
            <a:pPr marL="342900" indent="-342900">
              <a:lnSpc>
                <a:spcPct val="150000"/>
              </a:lnSpc>
              <a:buFont typeface="Arial" panose="020B0604020202020204" pitchFamily="34" charset="0"/>
              <a:buChar char="•"/>
            </a:pPr>
            <a:r>
              <a:rPr lang="en-US" sz="2000" b="1" dirty="0"/>
              <a:t>Programming Language: </a:t>
            </a:r>
            <a:r>
              <a:rPr lang="en-US" sz="2000" dirty="0"/>
              <a:t>Python</a:t>
            </a:r>
          </a:p>
          <a:p>
            <a:pPr marL="342900" indent="-342900">
              <a:lnSpc>
                <a:spcPct val="150000"/>
              </a:lnSpc>
              <a:buFont typeface="Arial" panose="020B0604020202020204" pitchFamily="34" charset="0"/>
              <a:buChar char="•"/>
            </a:pPr>
            <a:r>
              <a:rPr lang="en-US" sz="2000" b="1" dirty="0"/>
              <a:t>ML Algorithm / Model Used: </a:t>
            </a:r>
            <a:r>
              <a:rPr lang="en-US" sz="2000" dirty="0"/>
              <a:t>Snap Decision Tree Classifier</a:t>
            </a:r>
          </a:p>
          <a:p>
            <a:pPr marL="342900" indent="-342900">
              <a:lnSpc>
                <a:spcPct val="150000"/>
              </a:lnSpc>
              <a:buFont typeface="Arial" panose="020B0604020202020204" pitchFamily="34" charset="0"/>
              <a:buChar char="•"/>
            </a:pPr>
            <a:r>
              <a:rPr lang="en-US" sz="2000" b="1" dirty="0"/>
              <a:t>Accuracy Obtained: 99.5%</a:t>
            </a:r>
            <a:r>
              <a:rPr lang="en-US" sz="2000" dirty="0"/>
              <a:t> </a:t>
            </a:r>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a:t>
            </a:r>
            <a:endParaRPr sz="2800" b="1" dirty="0">
              <a:sym typeface="Times New Roman"/>
            </a:endParaRPr>
          </a:p>
        </p:txBody>
      </p:sp>
      <p:pic>
        <p:nvPicPr>
          <p:cNvPr id="7" name="Picture 6">
            <a:extLst>
              <a:ext uri="{FF2B5EF4-FFF2-40B4-BE49-F238E27FC236}">
                <a16:creationId xmlns:a16="http://schemas.microsoft.com/office/drawing/2014/main" id="{F01777E0-76AB-ED0C-E315-B3012BB646F6}"/>
              </a:ext>
            </a:extLst>
          </p:cNvPr>
          <p:cNvPicPr>
            <a:picLocks noChangeAspect="1"/>
          </p:cNvPicPr>
          <p:nvPr/>
        </p:nvPicPr>
        <p:blipFill>
          <a:blip r:embed="rId3"/>
          <a:srcRect b="23206"/>
          <a:stretch>
            <a:fillRect/>
          </a:stretch>
        </p:blipFill>
        <p:spPr>
          <a:xfrm>
            <a:off x="684610" y="1030827"/>
            <a:ext cx="10822781" cy="476884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mj-lt"/>
                <a:ea typeface="Calibri"/>
                <a:cs typeface="Calibri"/>
              </a:rPr>
              <a:t>Best Model Screenshot</a:t>
            </a:r>
            <a:r>
              <a:rPr lang="en-US" sz="2400" b="1" dirty="0">
                <a:solidFill>
                  <a:schemeClr val="dk1"/>
                </a:solidFill>
                <a:latin typeface="Calibri"/>
                <a:ea typeface="Calibri"/>
                <a:cs typeface="Calibri"/>
              </a:rPr>
              <a:t>:</a:t>
            </a:r>
          </a:p>
        </p:txBody>
      </p:sp>
      <p:pic>
        <p:nvPicPr>
          <p:cNvPr id="6" name="Picture 5">
            <a:extLst>
              <a:ext uri="{FF2B5EF4-FFF2-40B4-BE49-F238E27FC236}">
                <a16:creationId xmlns:a16="http://schemas.microsoft.com/office/drawing/2014/main" id="{82C28388-3222-90F7-C5C8-8977D996FD8E}"/>
              </a:ext>
            </a:extLst>
          </p:cNvPr>
          <p:cNvPicPr>
            <a:picLocks noChangeAspect="1"/>
          </p:cNvPicPr>
          <p:nvPr/>
        </p:nvPicPr>
        <p:blipFill>
          <a:blip r:embed="rId3"/>
          <a:stretch>
            <a:fillRect/>
          </a:stretch>
        </p:blipFill>
        <p:spPr>
          <a:xfrm>
            <a:off x="381000" y="838200"/>
            <a:ext cx="11445240" cy="52676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Testing Screenshot:</a:t>
            </a:r>
          </a:p>
        </p:txBody>
      </p:sp>
      <p:pic>
        <p:nvPicPr>
          <p:cNvPr id="10" name="Picture 9">
            <a:extLst>
              <a:ext uri="{FF2B5EF4-FFF2-40B4-BE49-F238E27FC236}">
                <a16:creationId xmlns:a16="http://schemas.microsoft.com/office/drawing/2014/main" id="{B5FE8DA2-14B6-FAE6-9EC0-7C2A1A404708}"/>
              </a:ext>
            </a:extLst>
          </p:cNvPr>
          <p:cNvPicPr>
            <a:picLocks noChangeAspect="1"/>
          </p:cNvPicPr>
          <p:nvPr/>
        </p:nvPicPr>
        <p:blipFill>
          <a:blip r:embed="rId3"/>
          <a:srcRect/>
          <a:stretch/>
        </p:blipFill>
        <p:spPr>
          <a:xfrm>
            <a:off x="787401" y="875242"/>
            <a:ext cx="10617199" cy="5423958"/>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367464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Calibri"/>
              </a:rPr>
              <a:t>Testing Screenshot:</a:t>
            </a:r>
            <a:endParaRPr lang="en-US" sz="2800" dirty="0"/>
          </a:p>
          <a:p>
            <a:pPr algn="ctr"/>
            <a:endParaRPr lang="en-US" dirty="0"/>
          </a:p>
        </p:txBody>
      </p:sp>
      <p:pic>
        <p:nvPicPr>
          <p:cNvPr id="7" name="Picture 6">
            <a:extLst>
              <a:ext uri="{FF2B5EF4-FFF2-40B4-BE49-F238E27FC236}">
                <a16:creationId xmlns:a16="http://schemas.microsoft.com/office/drawing/2014/main" id="{85DF99AC-D1C6-EA9C-D42E-6073C09D0166}"/>
              </a:ext>
            </a:extLst>
          </p:cNvPr>
          <p:cNvPicPr>
            <a:picLocks noChangeAspect="1"/>
          </p:cNvPicPr>
          <p:nvPr/>
        </p:nvPicPr>
        <p:blipFill>
          <a:blip r:embed="rId2"/>
          <a:srcRect/>
          <a:stretch/>
        </p:blipFill>
        <p:spPr>
          <a:xfrm>
            <a:off x="546100" y="887391"/>
            <a:ext cx="11099800" cy="5545961"/>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4651979"/>
          </a:xfrm>
          <a:prstGeom prst="rect">
            <a:avLst/>
          </a:prstGeom>
          <a:noFill/>
        </p:spPr>
        <p:txBody>
          <a:bodyPr wrap="square" lIns="91440" tIns="45720" rIns="91440" bIns="45720" rtlCol="0" anchor="t">
            <a:spAutoFit/>
          </a:bodyPr>
          <a:lstStyle/>
          <a:p>
            <a:pPr marL="342900" indent="-342900">
              <a:lnSpc>
                <a:spcPct val="150000"/>
              </a:lnSpc>
              <a:buFont typeface="Arial" panose="020B0604020202020204" pitchFamily="34" charset="0"/>
              <a:buChar char="•"/>
            </a:pPr>
            <a:r>
              <a:rPr lang="en-US" sz="2000" dirty="0"/>
              <a:t>Automates network intrusion detection using </a:t>
            </a:r>
            <a:r>
              <a:rPr lang="en-US" sz="2000" b="1" dirty="0"/>
              <a:t>IBM watsonx.ai </a:t>
            </a:r>
            <a:r>
              <a:rPr lang="en-US" sz="2000" b="1" dirty="0" err="1"/>
              <a:t>AutoAI</a:t>
            </a:r>
            <a:r>
              <a:rPr lang="en-US" sz="2000" dirty="0"/>
              <a:t>, reducing manual model development. </a:t>
            </a:r>
          </a:p>
          <a:p>
            <a:pPr marL="342900" indent="-342900">
              <a:lnSpc>
                <a:spcPct val="150000"/>
              </a:lnSpc>
              <a:buFont typeface="Arial" panose="020B0604020202020204" pitchFamily="34" charset="0"/>
              <a:buChar char="•"/>
            </a:pPr>
            <a:r>
              <a:rPr lang="en-US" sz="2000" dirty="0"/>
              <a:t>Analyzes multiple network traffic features to accurately identify </a:t>
            </a:r>
            <a:r>
              <a:rPr lang="en-US" sz="2000" b="1" dirty="0"/>
              <a:t>Normal</a:t>
            </a:r>
            <a:r>
              <a:rPr lang="en-US" sz="2000" dirty="0"/>
              <a:t> and </a:t>
            </a:r>
            <a:r>
              <a:rPr lang="en-US" sz="2000" b="1" dirty="0"/>
              <a:t>Anomalous</a:t>
            </a:r>
            <a:r>
              <a:rPr lang="en-US" sz="2000" dirty="0"/>
              <a:t> network activity. </a:t>
            </a:r>
          </a:p>
          <a:p>
            <a:pPr marL="342900" indent="-342900">
              <a:lnSpc>
                <a:spcPct val="150000"/>
              </a:lnSpc>
              <a:buFont typeface="Arial" panose="020B0604020202020204" pitchFamily="34" charset="0"/>
              <a:buChar char="•"/>
            </a:pPr>
            <a:r>
              <a:rPr lang="en-US" sz="2000" dirty="0"/>
              <a:t>Automatically generates, evaluates, and selects the best-performing Machine Learning pipeline. </a:t>
            </a:r>
          </a:p>
          <a:p>
            <a:pPr marL="342900" indent="-342900">
              <a:lnSpc>
                <a:spcPct val="150000"/>
              </a:lnSpc>
              <a:buFont typeface="Arial" panose="020B0604020202020204" pitchFamily="34" charset="0"/>
              <a:buChar char="•"/>
            </a:pPr>
            <a:r>
              <a:rPr lang="en-US" sz="2000" dirty="0"/>
              <a:t>Deployed on </a:t>
            </a:r>
            <a:r>
              <a:rPr lang="en-US" sz="2000" b="1" dirty="0"/>
              <a:t>IBM Cloud</a:t>
            </a:r>
            <a:r>
              <a:rPr lang="en-US" sz="2000" dirty="0"/>
              <a:t> using </a:t>
            </a:r>
            <a:r>
              <a:rPr lang="en-US" sz="2000" b="1" dirty="0"/>
              <a:t>IBM Watson Machine Learning</a:t>
            </a:r>
            <a:r>
              <a:rPr lang="en-US" sz="2000" dirty="0"/>
              <a:t> for efficient prediction testing. </a:t>
            </a:r>
          </a:p>
          <a:p>
            <a:pPr marL="342900" indent="-342900">
              <a:lnSpc>
                <a:spcPct val="150000"/>
              </a:lnSpc>
              <a:buFont typeface="Arial" panose="020B0604020202020204" pitchFamily="34" charset="0"/>
              <a:buChar char="•"/>
            </a:pPr>
            <a:r>
              <a:rPr lang="en-US" sz="2000" dirty="0"/>
              <a:t>Demonstrates a complete end-to-end AI workflow, from data preparation to cloud deployment, with minimal manual intervention.</a:t>
            </a:r>
            <a:endParaRPr lang="en-IN" sz="20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https://github.com/anuj-76/Network-Intrusion-Detection-System.git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488710" y="1290499"/>
            <a:ext cx="9214580" cy="4277001"/>
          </a:xfrm>
          <a:prstGeom prst="rect">
            <a:avLst/>
          </a:prstGeom>
          <a:noFill/>
          <a:ln>
            <a:noFill/>
          </a:ln>
        </p:spPr>
        <p:txBody>
          <a:bodyPr spcFirstLastPara="1" wrap="square" lIns="0" tIns="0" rIns="0" bIns="0" anchor="t" anchorCtr="0">
            <a:noAutofit/>
          </a:bodyPr>
          <a:lstStyle/>
          <a:p>
            <a:pPr marL="342900" lvl="0" indent="-342900">
              <a:lnSpc>
                <a:spcPct val="150000"/>
              </a:lnSpc>
              <a:buSzPts val="1850"/>
              <a:buFont typeface="Arial" panose="020B0604020202020204" pitchFamily="34" charset="0"/>
              <a:buChar char="•"/>
            </a:pPr>
            <a:r>
              <a:rPr lang="en-US" sz="2000" dirty="0"/>
              <a:t>Extend the system to support </a:t>
            </a:r>
            <a:r>
              <a:rPr lang="en-US" sz="2000" b="1" dirty="0"/>
              <a:t>multi-class attack classification</a:t>
            </a:r>
            <a:r>
              <a:rPr lang="en-US" sz="2000" dirty="0"/>
              <a:t> such as </a:t>
            </a:r>
            <a:r>
              <a:rPr lang="en-US" sz="2000" b="1" dirty="0"/>
              <a:t>DoS, Probe, R2L, and U2R</a:t>
            </a:r>
            <a:r>
              <a:rPr lang="en-US" sz="2000" dirty="0"/>
              <a:t>. </a:t>
            </a:r>
          </a:p>
          <a:p>
            <a:pPr marL="342900" lvl="0" indent="-342900">
              <a:lnSpc>
                <a:spcPct val="150000"/>
              </a:lnSpc>
              <a:buSzPts val="1850"/>
              <a:buFont typeface="Arial" panose="020B0604020202020204" pitchFamily="34" charset="0"/>
              <a:buChar char="•"/>
            </a:pPr>
            <a:r>
              <a:rPr lang="en-US" sz="2000" dirty="0"/>
              <a:t>Integrate the solution with </a:t>
            </a:r>
            <a:r>
              <a:rPr lang="en-US" sz="2000" b="1" dirty="0"/>
              <a:t>real-time network traffic monitoring</a:t>
            </a:r>
            <a:r>
              <a:rPr lang="en-US" sz="2000" dirty="0"/>
              <a:t> for continuous intrusion detection. </a:t>
            </a:r>
          </a:p>
          <a:p>
            <a:pPr marL="342900" lvl="0" indent="-342900">
              <a:lnSpc>
                <a:spcPct val="150000"/>
              </a:lnSpc>
              <a:buSzPts val="1850"/>
              <a:buFont typeface="Arial" panose="020B0604020202020204" pitchFamily="34" charset="0"/>
              <a:buChar char="•"/>
            </a:pPr>
            <a:r>
              <a:rPr lang="en-US" sz="2000" dirty="0"/>
              <a:t>Improve prediction accuracy by training the model on </a:t>
            </a:r>
            <a:r>
              <a:rPr lang="en-US" sz="2000" b="1" dirty="0"/>
              <a:t>larger and more diverse datasets</a:t>
            </a:r>
            <a:r>
              <a:rPr lang="en-US" sz="2000" dirty="0"/>
              <a:t>. </a:t>
            </a:r>
          </a:p>
          <a:p>
            <a:pPr marL="342900" lvl="0" indent="-342900">
              <a:lnSpc>
                <a:spcPct val="150000"/>
              </a:lnSpc>
              <a:buSzPts val="1850"/>
              <a:buFont typeface="Arial" panose="020B0604020202020204" pitchFamily="34" charset="0"/>
              <a:buChar char="•"/>
            </a:pPr>
            <a:r>
              <a:rPr lang="en-US" sz="2000" dirty="0"/>
              <a:t>Implement </a:t>
            </a:r>
            <a:r>
              <a:rPr lang="en-US" sz="2000" b="1" dirty="0"/>
              <a:t>real-time alert and notification mechanisms</a:t>
            </a:r>
            <a:r>
              <a:rPr lang="en-US" sz="2000" dirty="0"/>
              <a:t> for detected network threats. </a:t>
            </a:r>
          </a:p>
          <a:p>
            <a:pPr marL="342900" lvl="0" indent="-342900">
              <a:lnSpc>
                <a:spcPct val="150000"/>
              </a:lnSpc>
              <a:buSzPts val="1850"/>
              <a:buFont typeface="Arial" panose="020B0604020202020204" pitchFamily="34" charset="0"/>
              <a:buChar char="•"/>
            </a:pPr>
            <a:r>
              <a:rPr lang="en-US" sz="2000" dirty="0"/>
              <a:t>Deploy the solution for </a:t>
            </a:r>
            <a:r>
              <a:rPr lang="en-US" sz="2000" b="1" dirty="0"/>
              <a:t>enterprise-scale cybersecurity</a:t>
            </a:r>
            <a:r>
              <a:rPr lang="en-US" sz="2000" dirty="0"/>
              <a:t> applications and cloud environments.</a:t>
            </a:r>
            <a:endParaRPr lang="en-US" sz="1850" b="1" dirty="0">
              <a:solidFill>
                <a:srgbClr val="2B3541"/>
              </a:solidFill>
              <a:latin typeface="Times New Roman"/>
              <a:cs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10" name="Picture 9">
            <a:extLst>
              <a:ext uri="{FF2B5EF4-FFF2-40B4-BE49-F238E27FC236}">
                <a16:creationId xmlns:a16="http://schemas.microsoft.com/office/drawing/2014/main" id="{24A90B58-A505-E68A-EB1F-203AAB31536B}"/>
              </a:ext>
            </a:extLst>
          </p:cNvPr>
          <p:cNvPicPr>
            <a:picLocks noChangeAspect="1"/>
          </p:cNvPicPr>
          <p:nvPr/>
        </p:nvPicPr>
        <p:blipFill>
          <a:blip r:embed="rId2"/>
          <a:stretch>
            <a:fillRect/>
          </a:stretch>
        </p:blipFill>
        <p:spPr>
          <a:xfrm>
            <a:off x="1657165" y="690061"/>
            <a:ext cx="8877670" cy="6167938"/>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8891-15A6-E7B3-90C5-7781B8F8EDA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096AB72-3FA7-F538-8AD5-79A42ACF0C98}"/>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B3BAF1FF-29C1-E6E9-39B6-6BCFBFA0E780}"/>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0D933609-15EC-D3F1-435F-256845728E9E}"/>
              </a:ext>
            </a:extLst>
          </p:cNvPr>
          <p:cNvPicPr>
            <a:picLocks noChangeAspect="1"/>
          </p:cNvPicPr>
          <p:nvPr/>
        </p:nvPicPr>
        <p:blipFill>
          <a:blip r:embed="rId2"/>
          <a:stretch>
            <a:fillRect/>
          </a:stretch>
        </p:blipFill>
        <p:spPr>
          <a:xfrm>
            <a:off x="1657165" y="690060"/>
            <a:ext cx="8877670" cy="6167939"/>
          </a:xfrm>
          <a:prstGeom prst="rect">
            <a:avLst/>
          </a:prstGeom>
        </p:spPr>
      </p:pic>
    </p:spTree>
    <p:extLst>
      <p:ext uri="{BB962C8B-B14F-4D97-AF65-F5344CB8AC3E}">
        <p14:creationId xmlns:p14="http://schemas.microsoft.com/office/powerpoint/2010/main" val="2686031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FE550-2FE5-3903-B8DA-4D202BC4CA4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FDFB7EF-C40C-ABD1-CB37-CB5C9770A846}"/>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5F69B914-F5B9-89E0-244F-1701F865ADA3}"/>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82C81132-B7AE-91B5-E5C2-D17847FDC0AF}"/>
              </a:ext>
            </a:extLst>
          </p:cNvPr>
          <p:cNvPicPr>
            <a:picLocks noChangeAspect="1"/>
          </p:cNvPicPr>
          <p:nvPr/>
        </p:nvPicPr>
        <p:blipFill>
          <a:blip r:embed="rId2"/>
          <a:stretch>
            <a:fillRect/>
          </a:stretch>
        </p:blipFill>
        <p:spPr>
          <a:xfrm>
            <a:off x="1657165" y="690060"/>
            <a:ext cx="8877670" cy="6167939"/>
          </a:xfrm>
          <a:prstGeom prst="rect">
            <a:avLst/>
          </a:prstGeom>
        </p:spPr>
      </p:pic>
    </p:spTree>
    <p:extLst>
      <p:ext uri="{BB962C8B-B14F-4D97-AF65-F5344CB8AC3E}">
        <p14:creationId xmlns:p14="http://schemas.microsoft.com/office/powerpoint/2010/main" val="1659309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18DA9-8F7B-AECB-043D-6A34D90130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E3EAA76-A2F2-E948-C5A6-0067EAA3A1A7}"/>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FBC71212-795E-E1C5-1551-70904D0137ED}"/>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831793E3-AB3E-3158-D260-DD5905CE6392}"/>
              </a:ext>
            </a:extLst>
          </p:cNvPr>
          <p:cNvPicPr>
            <a:picLocks noChangeAspect="1"/>
          </p:cNvPicPr>
          <p:nvPr/>
        </p:nvPicPr>
        <p:blipFill>
          <a:blip r:embed="rId2"/>
          <a:stretch>
            <a:fillRect/>
          </a:stretch>
        </p:blipFill>
        <p:spPr>
          <a:xfrm>
            <a:off x="1240779" y="837049"/>
            <a:ext cx="9710442" cy="6020951"/>
          </a:xfrm>
          <a:prstGeom prst="rect">
            <a:avLst/>
          </a:prstGeom>
        </p:spPr>
      </p:pic>
    </p:spTree>
    <p:extLst>
      <p:ext uri="{BB962C8B-B14F-4D97-AF65-F5344CB8AC3E}">
        <p14:creationId xmlns:p14="http://schemas.microsoft.com/office/powerpoint/2010/main" val="3196709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D47F6-3FB3-457C-E039-3517705A0F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7475D23-B138-8F96-B07B-36375101F152}"/>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7E15D8B7-AE10-B3F8-30A0-CA24FFC66A60}"/>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C3209C98-5810-F337-DF64-E27F9BCB7603}"/>
              </a:ext>
            </a:extLst>
          </p:cNvPr>
          <p:cNvPicPr>
            <a:picLocks noChangeAspect="1"/>
          </p:cNvPicPr>
          <p:nvPr/>
        </p:nvPicPr>
        <p:blipFill>
          <a:blip r:embed="rId2"/>
          <a:stretch>
            <a:fillRect/>
          </a:stretch>
        </p:blipFill>
        <p:spPr>
          <a:xfrm>
            <a:off x="1240779" y="837049"/>
            <a:ext cx="9710442" cy="6020951"/>
          </a:xfrm>
          <a:prstGeom prst="rect">
            <a:avLst/>
          </a:prstGeom>
        </p:spPr>
      </p:pic>
    </p:spTree>
    <p:extLst>
      <p:ext uri="{BB962C8B-B14F-4D97-AF65-F5344CB8AC3E}">
        <p14:creationId xmlns:p14="http://schemas.microsoft.com/office/powerpoint/2010/main" val="173323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0460-F782-0ECA-F0C2-B02638B5E09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228A968-BAB0-6117-9798-D439252A1E09}"/>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6A369226-D176-B132-397B-19BDE789B767}"/>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4" name="Picture 3">
            <a:extLst>
              <a:ext uri="{FF2B5EF4-FFF2-40B4-BE49-F238E27FC236}">
                <a16:creationId xmlns:a16="http://schemas.microsoft.com/office/drawing/2014/main" id="{B0A40476-4283-26C0-E1AA-332AC68FB935}"/>
              </a:ext>
            </a:extLst>
          </p:cNvPr>
          <p:cNvPicPr>
            <a:picLocks noChangeAspect="1"/>
          </p:cNvPicPr>
          <p:nvPr/>
        </p:nvPicPr>
        <p:blipFill>
          <a:blip r:embed="rId2"/>
          <a:stretch>
            <a:fillRect/>
          </a:stretch>
        </p:blipFill>
        <p:spPr>
          <a:xfrm>
            <a:off x="1240779" y="837049"/>
            <a:ext cx="9710442" cy="6020951"/>
          </a:xfrm>
          <a:prstGeom prst="rect">
            <a:avLst/>
          </a:prstGeom>
        </p:spPr>
      </p:pic>
    </p:spTree>
    <p:extLst>
      <p:ext uri="{BB962C8B-B14F-4D97-AF65-F5344CB8AC3E}">
        <p14:creationId xmlns:p14="http://schemas.microsoft.com/office/powerpoint/2010/main" val="306635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813A4-B2A0-79E6-EECD-CBCFFA00C34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8B24F3-8190-DD5A-008F-54EE4C3AAFA0}"/>
              </a:ext>
            </a:extLst>
          </p:cNvPr>
          <p:cNvSpPr txBox="1"/>
          <p:nvPr/>
        </p:nvSpPr>
        <p:spPr>
          <a:xfrm>
            <a:off x="327949" y="98385"/>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sp>
        <p:nvSpPr>
          <p:cNvPr id="3" name="TextBox 2">
            <a:extLst>
              <a:ext uri="{FF2B5EF4-FFF2-40B4-BE49-F238E27FC236}">
                <a16:creationId xmlns:a16="http://schemas.microsoft.com/office/drawing/2014/main" id="{C43EA123-DA54-EFC2-C3D0-B8F8058FF637}"/>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p>
        </p:txBody>
      </p:sp>
      <p:pic>
        <p:nvPicPr>
          <p:cNvPr id="5" name="Picture 4">
            <a:extLst>
              <a:ext uri="{FF2B5EF4-FFF2-40B4-BE49-F238E27FC236}">
                <a16:creationId xmlns:a16="http://schemas.microsoft.com/office/drawing/2014/main" id="{0B8FCED3-CCA2-CE27-89F7-DB0366592B68}"/>
              </a:ext>
            </a:extLst>
          </p:cNvPr>
          <p:cNvPicPr>
            <a:picLocks noChangeAspect="1"/>
          </p:cNvPicPr>
          <p:nvPr/>
        </p:nvPicPr>
        <p:blipFill>
          <a:blip r:embed="rId2"/>
          <a:srcRect b="74198"/>
          <a:stretch>
            <a:fillRect/>
          </a:stretch>
        </p:blipFill>
        <p:spPr>
          <a:xfrm>
            <a:off x="994834" y="1346199"/>
            <a:ext cx="10202332" cy="4614334"/>
          </a:xfrm>
          <a:prstGeom prst="rect">
            <a:avLst/>
          </a:prstGeom>
        </p:spPr>
      </p:pic>
    </p:spTree>
    <p:extLst>
      <p:ext uri="{BB962C8B-B14F-4D97-AF65-F5344CB8AC3E}">
        <p14:creationId xmlns:p14="http://schemas.microsoft.com/office/powerpoint/2010/main" val="1519035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t="-21531" b="21531"/>
          <a:stretch>
            <a:fillRect/>
          </a:stretch>
        </p:blipFill>
        <p:spPr>
          <a:xfrm>
            <a:off x="0" y="16569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TotalTime>
  <Words>677</Words>
  <Application>Microsoft Office PowerPoint</Application>
  <PresentationFormat>Widescreen</PresentationFormat>
  <Paragraphs>73</Paragraphs>
  <Slides>20</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Anuj Shinde</cp:lastModifiedBy>
  <cp:revision>3</cp:revision>
  <dcterms:created xsi:type="dcterms:W3CDTF">2025-07-08T05:06:56Z</dcterms:created>
  <dcterms:modified xsi:type="dcterms:W3CDTF">2026-07-11T19:24:07Z</dcterms:modified>
</cp:coreProperties>
</file>